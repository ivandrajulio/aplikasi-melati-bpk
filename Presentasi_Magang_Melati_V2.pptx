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28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DA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731520"/>
            <a:ext cx="6858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DA3726"/>
                </a:solidFill>
                <a:latin typeface="Arial"/>
              </a:defRPr>
            </a:pPr>
            <a:r>
              <a:t>TUGAS PRESENTASI PESERTA MAGANG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MELATI V2: Portal Layanan &amp; Service Desk TI Terintegrasi Berbasis AI di Biro TIK BPK RI</a:t>
            </a:r>
          </a:p>
          <a:p>
            <a:pPr>
              <a:defRPr sz="1300" i="1">
                <a:solidFill>
                  <a:srgbClr val="FFCC00"/>
                </a:solidFill>
                <a:latin typeface="Arial"/>
              </a:defRPr>
            </a:pPr>
            <a:r>
              <a:t>(Mencerminkan keseluruhan ide modernisasi layanan TI yang siap diaplikasikan)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6858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DA3726"/>
                </a:solidFill>
                <a:latin typeface="Arial"/>
              </a:defRPr>
            </a:pPr>
            <a:r>
              <a:t>NAMA LENGKAP : [Nama Peserta Magang]</a:t>
            </a:r>
          </a:p>
          <a:p>
            <a:pPr>
              <a:defRPr sz="1300" b="0">
                <a:solidFill>
                  <a:srgbClr val="282828"/>
                </a:solidFill>
                <a:latin typeface="Arial"/>
              </a:defRPr>
            </a:pPr>
            <a:r>
              <a:t>NIM : 123456789</a:t>
            </a:r>
          </a:p>
          <a:p>
            <a:pPr>
              <a:defRPr sz="1300" b="0">
                <a:solidFill>
                  <a:srgbClr val="282828"/>
                </a:solidFill>
                <a:latin typeface="Arial"/>
              </a:defRPr>
            </a:pPr>
            <a:r>
              <a:t>FAKULTAS : Fakultas Ilmu Komputer / Teknik Informatika</a:t>
            </a:r>
          </a:p>
          <a:p>
            <a:pPr>
              <a:defRPr sz="1300" b="0">
                <a:solidFill>
                  <a:srgbClr val="282828"/>
                </a:solidFill>
                <a:latin typeface="Arial"/>
              </a:defRPr>
            </a:pPr>
            <a:r>
              <a:t>UNIVERSITAS : Nama Universitas</a:t>
            </a:r>
          </a:p>
          <a:p>
            <a:pPr>
              <a:defRPr sz="1300" b="0">
                <a:solidFill>
                  <a:srgbClr val="282828"/>
                </a:solidFill>
                <a:latin typeface="Arial"/>
              </a:defRPr>
            </a:pPr>
            <a:r>
              <a:t>SATKER PENEMPATAN : Biro TIK - Badan Pemeriksa Keuangan RI</a:t>
            </a:r>
          </a:p>
        </p:txBody>
      </p:sp>
      <p:sp>
        <p:nvSpPr>
          <p:cNvPr id="7" name="Hexagon 6"/>
          <p:cNvSpPr/>
          <p:nvPr/>
        </p:nvSpPr>
        <p:spPr>
          <a:xfrm>
            <a:off x="8503920" y="1828800"/>
            <a:ext cx="2926080" cy="3200400"/>
          </a:xfrm>
          <a:prstGeom prst="hexagon">
            <a:avLst/>
          </a:prstGeom>
          <a:solidFill>
            <a:srgbClr val="FFFFFF"/>
          </a:solidFill>
          <a:ln w="38100">
            <a:solidFill>
              <a:srgbClr val="DA3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A3726"/>
                </a:solidFill>
                <a:latin typeface="Arial"/>
              </a:defRPr>
            </a:pPr>
            <a:r>
              <a:t>BADAN PEMERIKSA KEUANGAN</a:t>
            </a:r>
            <a:br/>
            <a:r>
              <a:t>REPUBLIK INDONESIA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52190" y="365760"/>
            <a:ext cx="54864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DA3726"/>
                </a:solidFill>
                <a:latin typeface="Arial"/>
              </a:defRPr>
            </a:pPr>
            <a:r>
              <a:t>LATAR BELAKANG</a:t>
            </a:r>
          </a:p>
        </p:txBody>
      </p:sp>
      <p:sp>
        <p:nvSpPr>
          <p:cNvPr id="4" name="Hexagon 3"/>
          <p:cNvSpPr/>
          <p:nvPr/>
        </p:nvSpPr>
        <p:spPr>
          <a:xfrm>
            <a:off x="4723790" y="2011680"/>
            <a:ext cx="2743200" cy="2926080"/>
          </a:xfrm>
          <a:prstGeom prst="hexagon">
            <a:avLst/>
          </a:prstGeom>
          <a:solidFill>
            <a:srgbClr val="FFFFFF"/>
          </a:solidFill>
          <a:ln w="38100">
            <a:solidFill>
              <a:srgbClr val="DA3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DA3726"/>
                </a:solidFill>
                <a:latin typeface="Arial"/>
              </a:defRPr>
            </a:pPr>
            <a:r>
              <a:t>MOTIVASI</a:t>
            </a:r>
            <a:br/>
            <a:r>
              <a:t>MAGANG DI</a:t>
            </a:r>
            <a:br/>
            <a:r>
              <a:t>BPK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6576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A3726"/>
                </a:solidFill>
                <a:latin typeface="Arial"/>
              </a:defRPr>
            </a:pPr>
            <a:r>
              <a:t>Kontribusi Lembaga Negara</a:t>
            </a:r>
          </a:p>
          <a:p>
            <a:pPr>
              <a:defRPr sz="1200">
                <a:solidFill>
                  <a:srgbClr val="282828"/>
                </a:solidFill>
                <a:latin typeface="Arial"/>
              </a:defRPr>
            </a:pPr>
            <a:r>
              <a:t>Keinginan berkontribusi dalam modernisasi layanan TI BPK RI sebagai lembaga pengawal keuangan negara.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02575" y="1645920"/>
            <a:ext cx="36576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A3726"/>
                </a:solidFill>
                <a:latin typeface="Arial"/>
              </a:defRPr>
            </a:pPr>
            <a:r>
              <a:t>Penerapan Full-Stack &amp; AI</a:t>
            </a:r>
          </a:p>
          <a:p>
            <a:pPr>
              <a:defRPr sz="1200">
                <a:solidFill>
                  <a:srgbClr val="282828"/>
                </a:solidFill>
                <a:latin typeface="Arial"/>
              </a:defRPr>
            </a:pPr>
            <a:r>
              <a:t>Mengaplikasikan framework Laravel 12, Alpine.js, Tailwind CSS, dan Google Gemini AI secara nyata.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36576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A3726"/>
                </a:solidFill>
                <a:latin typeface="Arial"/>
              </a:defRPr>
            </a:pPr>
            <a:r>
              <a:t>Pemahaman Service Desk</a:t>
            </a:r>
          </a:p>
          <a:p>
            <a:pPr>
              <a:defRPr sz="1200">
                <a:solidFill>
                  <a:srgbClr val="282828"/>
                </a:solidFill>
                <a:latin typeface="Arial"/>
              </a:defRPr>
            </a:pPr>
            <a:r>
              <a:t>Memahami alur kerja Biro TIK BPK RI dalam menangani tiket insiden pengguna pusat dan perwakilan.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02575" y="4114800"/>
            <a:ext cx="36576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A3726"/>
                </a:solidFill>
                <a:latin typeface="Arial"/>
              </a:defRPr>
            </a:pPr>
            <a:r>
              <a:t>Pengembangan Profesional</a:t>
            </a:r>
          </a:p>
          <a:p>
            <a:pPr>
              <a:defRPr sz="1200">
                <a:solidFill>
                  <a:srgbClr val="282828"/>
                </a:solidFill>
                <a:latin typeface="Arial"/>
              </a:defRPr>
            </a:pPr>
            <a:r>
              <a:t>Mengasah skill teknis, komunikasi multi-role, dan pemecahan masalah sesuai standar pemerintahan.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52190" y="365760"/>
            <a:ext cx="54864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DA3726"/>
                </a:solidFill>
                <a:latin typeface="Arial"/>
              </a:defRPr>
            </a:pPr>
            <a:r>
              <a:t>HARAPAN MAGANG DI BPK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DA3726"/>
                </a:solidFill>
              </a:defRPr>
            </a:pPr>
            <a:r>
              <a:rPr dirty="0"/>
              <a:t>📋 </a:t>
            </a:r>
            <a:r>
              <a:rPr dirty="0" err="1"/>
              <a:t>Kebutuhan</a:t>
            </a:r>
            <a:r>
              <a:rPr dirty="0"/>
              <a:t> Kampus: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rPr dirty="0"/>
              <a:t>• </a:t>
            </a:r>
            <a:r>
              <a:rPr dirty="0" err="1"/>
              <a:t>Memenuhi</a:t>
            </a:r>
            <a:r>
              <a:rPr dirty="0"/>
              <a:t> </a:t>
            </a:r>
            <a:r>
              <a:rPr dirty="0" err="1"/>
              <a:t>bobot</a:t>
            </a:r>
            <a:r>
              <a:rPr dirty="0"/>
              <a:t> SKS program </a:t>
            </a:r>
            <a:r>
              <a:rPr dirty="0" err="1"/>
              <a:t>Magang</a:t>
            </a:r>
            <a:r>
              <a:rPr dirty="0"/>
              <a:t> / MBKM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rPr dirty="0"/>
              <a:t>• </a:t>
            </a:r>
            <a:r>
              <a:rPr dirty="0" err="1"/>
              <a:t>Mengaplikasikan</a:t>
            </a:r>
            <a:r>
              <a:rPr dirty="0"/>
              <a:t> </a:t>
            </a:r>
            <a:r>
              <a:rPr dirty="0" err="1"/>
              <a:t>teori</a:t>
            </a:r>
            <a:r>
              <a:rPr dirty="0"/>
              <a:t> </a:t>
            </a:r>
            <a:r>
              <a:rPr dirty="0" err="1"/>
              <a:t>rekayasa</a:t>
            </a:r>
            <a:r>
              <a:rPr dirty="0"/>
              <a:t> </a:t>
            </a:r>
            <a:r>
              <a:rPr dirty="0" err="1"/>
              <a:t>perangkat</a:t>
            </a:r>
            <a:r>
              <a:rPr dirty="0"/>
              <a:t> </a:t>
            </a:r>
            <a:r>
              <a:rPr dirty="0" err="1"/>
              <a:t>lunak</a:t>
            </a:r>
            <a:r>
              <a:rPr dirty="0"/>
              <a:t> &amp; AI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rPr dirty="0"/>
              <a:t>• Menyusun </a:t>
            </a:r>
            <a:r>
              <a:rPr dirty="0" err="1"/>
              <a:t>laporan</a:t>
            </a:r>
            <a:r>
              <a:rPr dirty="0"/>
              <a:t> </a:t>
            </a:r>
            <a:r>
              <a:rPr dirty="0" err="1"/>
              <a:t>magang</a:t>
            </a:r>
            <a:r>
              <a:rPr dirty="0"/>
              <a:t> </a:t>
            </a:r>
            <a:r>
              <a:rPr dirty="0" err="1"/>
              <a:t>berbasis</a:t>
            </a:r>
            <a:r>
              <a:rPr dirty="0"/>
              <a:t> </a:t>
            </a:r>
            <a:r>
              <a:rPr dirty="0" err="1"/>
              <a:t>kasus</a:t>
            </a:r>
            <a:r>
              <a:rPr dirty="0"/>
              <a:t> </a:t>
            </a:r>
            <a:r>
              <a:rPr dirty="0" err="1"/>
              <a:t>nyata</a:t>
            </a:r>
            <a:r>
              <a:rPr dirty="0"/>
              <a:t> BPK RI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rPr dirty="0"/>
              <a:t>• </a:t>
            </a:r>
            <a:r>
              <a:rPr dirty="0" err="1"/>
              <a:t>Membangun</a:t>
            </a:r>
            <a:r>
              <a:rPr dirty="0"/>
              <a:t> </a:t>
            </a:r>
            <a:r>
              <a:rPr dirty="0" err="1"/>
              <a:t>portofolio</a:t>
            </a:r>
            <a:r>
              <a:rPr dirty="0"/>
              <a:t> </a:t>
            </a:r>
            <a:r>
              <a:rPr dirty="0" err="1"/>
              <a:t>karya</a:t>
            </a:r>
            <a:r>
              <a:rPr dirty="0"/>
              <a:t> enterprise </a:t>
            </a:r>
            <a:r>
              <a:rPr dirty="0" err="1"/>
              <a:t>berstandar</a:t>
            </a:r>
            <a:r>
              <a:rPr dirty="0"/>
              <a:t> </a:t>
            </a:r>
            <a:r>
              <a:rPr dirty="0" err="1"/>
              <a:t>industri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DA3726"/>
                </a:solidFill>
              </a:defRPr>
            </a:pPr>
            <a:r>
              <a:rPr dirty="0"/>
              <a:t>📊 Harapan </a:t>
            </a:r>
            <a:r>
              <a:rPr dirty="0" err="1"/>
              <a:t>Selama</a:t>
            </a:r>
            <a:r>
              <a:rPr dirty="0"/>
              <a:t> </a:t>
            </a:r>
            <a:r>
              <a:rPr dirty="0" err="1"/>
              <a:t>Magang</a:t>
            </a:r>
            <a:r>
              <a:rPr dirty="0"/>
              <a:t> di BPK: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rPr dirty="0"/>
              <a:t>• Mampu </a:t>
            </a:r>
            <a:r>
              <a:rPr dirty="0" err="1"/>
              <a:t>merancang</a:t>
            </a:r>
            <a:r>
              <a:rPr dirty="0"/>
              <a:t> &amp; </a:t>
            </a:r>
            <a:r>
              <a:rPr dirty="0" err="1"/>
              <a:t>mengembangkan</a:t>
            </a:r>
            <a:r>
              <a:rPr dirty="0"/>
              <a:t> Portal Melati V2 yang </a:t>
            </a:r>
            <a:r>
              <a:rPr dirty="0" err="1"/>
              <a:t>solutif</a:t>
            </a:r>
            <a:endParaRPr dirty="0"/>
          </a:p>
          <a:p>
            <a:pPr>
              <a:defRPr sz="1300">
                <a:solidFill>
                  <a:srgbClr val="282828"/>
                </a:solidFill>
              </a:defRPr>
            </a:pPr>
            <a:r>
              <a:rPr dirty="0"/>
              <a:t>• </a:t>
            </a:r>
            <a:r>
              <a:rPr dirty="0" err="1"/>
              <a:t>Mendapat</a:t>
            </a:r>
            <a:r>
              <a:rPr dirty="0"/>
              <a:t> </a:t>
            </a:r>
            <a:r>
              <a:rPr dirty="0" err="1"/>
              <a:t>bimbingan</a:t>
            </a:r>
            <a:r>
              <a:rPr dirty="0"/>
              <a:t> </a:t>
            </a:r>
            <a:r>
              <a:rPr dirty="0" err="1"/>
              <a:t>intensif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mentor &amp; </a:t>
            </a:r>
            <a:r>
              <a:rPr dirty="0" err="1"/>
              <a:t>Kasubbag</a:t>
            </a:r>
            <a:r>
              <a:rPr dirty="0"/>
              <a:t> Biro TIK BPK RI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rPr dirty="0"/>
              <a:t>• </a:t>
            </a:r>
            <a:r>
              <a:rPr dirty="0" err="1"/>
              <a:t>Menguasai</a:t>
            </a:r>
            <a:r>
              <a:rPr dirty="0"/>
              <a:t> </a:t>
            </a:r>
            <a:r>
              <a:rPr dirty="0" err="1"/>
              <a:t>alur</a:t>
            </a:r>
            <a:r>
              <a:rPr dirty="0"/>
              <a:t> routing </a:t>
            </a:r>
            <a:r>
              <a:rPr dirty="0" err="1"/>
              <a:t>tiket</a:t>
            </a:r>
            <a:r>
              <a:rPr dirty="0"/>
              <a:t>, overdue SLA, &amp; AI synthesis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rPr dirty="0"/>
              <a:t>• </a:t>
            </a:r>
            <a:r>
              <a:rPr dirty="0" err="1"/>
              <a:t>Memberikan</a:t>
            </a:r>
            <a:r>
              <a:rPr dirty="0"/>
              <a:t> </a:t>
            </a:r>
            <a:r>
              <a:rPr dirty="0" err="1"/>
              <a:t>solusi</a:t>
            </a:r>
            <a:r>
              <a:rPr dirty="0"/>
              <a:t> software yang </a:t>
            </a:r>
            <a:r>
              <a:rPr dirty="0" err="1"/>
              <a:t>bermanfaat</a:t>
            </a:r>
            <a:r>
              <a:rPr dirty="0"/>
              <a:t> </a:t>
            </a:r>
            <a:r>
              <a:rPr dirty="0" err="1"/>
              <a:t>nyata</a:t>
            </a:r>
            <a:r>
              <a:rPr dirty="0"/>
              <a:t> &amp; </a:t>
            </a:r>
            <a:r>
              <a:rPr dirty="0" err="1"/>
              <a:t>berkesinambungan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52190" y="365760"/>
            <a:ext cx="54864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DA3726"/>
                </a:solidFill>
                <a:latin typeface="Arial"/>
              </a:defRPr>
            </a:pPr>
            <a:r>
              <a:t>MANFAAT SELAMA MAGANG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Manfaat utama yang didapatkan selama melaksanakan magang di Biro TIK BPK RI:</a:t>
            </a:r>
          </a:p>
        </p:txBody>
      </p:sp>
      <p:sp>
        <p:nvSpPr>
          <p:cNvPr id="5" name="Hexagon 4"/>
          <p:cNvSpPr/>
          <p:nvPr/>
        </p:nvSpPr>
        <p:spPr>
          <a:xfrm>
            <a:off x="731520" y="1828800"/>
            <a:ext cx="822960" cy="914400"/>
          </a:xfrm>
          <a:prstGeom prst="hexagon">
            <a:avLst/>
          </a:prstGeom>
          <a:solidFill>
            <a:srgbClr val="DA3726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1828800"/>
            <a:ext cx="9692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A3726"/>
                </a:solidFill>
              </a:defRPr>
            </a:pPr>
            <a:r>
              <a:rPr dirty="0" err="1"/>
              <a:t>Peningkatan</a:t>
            </a:r>
            <a:r>
              <a:rPr dirty="0"/>
              <a:t> Technical Skill Full-Stack &amp; AI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rPr dirty="0" err="1"/>
              <a:t>Menguasai</a:t>
            </a:r>
            <a:r>
              <a:rPr dirty="0"/>
              <a:t> Laravel 12, Alpine.js, Tailwind 4, dan Google Gemini API (Multimodal AI) </a:t>
            </a:r>
            <a:r>
              <a:rPr dirty="0" err="1"/>
              <a:t>untuk</a:t>
            </a:r>
            <a:r>
              <a:rPr dirty="0"/>
              <a:t> diagnosis &amp; autofill.</a:t>
            </a:r>
          </a:p>
        </p:txBody>
      </p:sp>
      <p:sp>
        <p:nvSpPr>
          <p:cNvPr id="7" name="Hexagon 6"/>
          <p:cNvSpPr/>
          <p:nvPr/>
        </p:nvSpPr>
        <p:spPr>
          <a:xfrm>
            <a:off x="731520" y="2971800"/>
            <a:ext cx="822960" cy="914400"/>
          </a:xfrm>
          <a:prstGeom prst="hexagon">
            <a:avLst/>
          </a:prstGeom>
          <a:solidFill>
            <a:srgbClr val="DA3726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2971800"/>
            <a:ext cx="9692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A3726"/>
                </a:solidFill>
              </a:defRPr>
            </a:pPr>
            <a:r>
              <a:t>Pemahaman Workflow Service Desk Enterprise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Memahami alur kerja Service Desk multi-role (Pelapor, Operator, Kasubbag, Solver) dan otorisasi sistem.</a:t>
            </a:r>
          </a:p>
        </p:txBody>
      </p:sp>
      <p:sp>
        <p:nvSpPr>
          <p:cNvPr id="9" name="Hexagon 8"/>
          <p:cNvSpPr/>
          <p:nvPr/>
        </p:nvSpPr>
        <p:spPr>
          <a:xfrm>
            <a:off x="731520" y="4114800"/>
            <a:ext cx="822960" cy="914400"/>
          </a:xfrm>
          <a:prstGeom prst="hexagon">
            <a:avLst/>
          </a:prstGeom>
          <a:solidFill>
            <a:srgbClr val="DA3726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4114800"/>
            <a:ext cx="9692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A3726"/>
                </a:solidFill>
              </a:defRPr>
            </a:pPr>
            <a:r>
              <a:t>Kemampuan Merancang Otomasi Bisnis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Berhasil mengimplementasikan Location-Based Routing, eskalasi Overdue 24 jam, dan Gemini Auto-FAQ.</a:t>
            </a:r>
          </a:p>
        </p:txBody>
      </p:sp>
      <p:sp>
        <p:nvSpPr>
          <p:cNvPr id="11" name="Hexagon 10"/>
          <p:cNvSpPr/>
          <p:nvPr/>
        </p:nvSpPr>
        <p:spPr>
          <a:xfrm>
            <a:off x="731520" y="5257800"/>
            <a:ext cx="822960" cy="914400"/>
          </a:xfrm>
          <a:prstGeom prst="hexagon">
            <a:avLst/>
          </a:prstGeom>
          <a:solidFill>
            <a:srgbClr val="DA3726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5257800"/>
            <a:ext cx="9692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A3726"/>
                </a:solidFill>
              </a:defRPr>
            </a:pPr>
            <a:r>
              <a:t>Pengembangan Soft Skill &amp; Pengalaman Nyata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Meningkatkan kemampuan komunikasi interkultural, kerja sama tim, dan kepatuhan SOP layanan publik BPK RI.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52190" y="365760"/>
            <a:ext cx="54864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DA3726"/>
                </a:solidFill>
                <a:latin typeface="Arial"/>
              </a:defRPr>
            </a:pPr>
            <a:r>
              <a:t>TUGAS SEHARI HARI</a:t>
            </a:r>
          </a:p>
        </p:txBody>
      </p:sp>
      <p:sp>
        <p:nvSpPr>
          <p:cNvPr id="4" name="Hexagon 3"/>
          <p:cNvSpPr/>
          <p:nvPr/>
        </p:nvSpPr>
        <p:spPr>
          <a:xfrm>
            <a:off x="731520" y="1645920"/>
            <a:ext cx="1005840" cy="1097280"/>
          </a:xfrm>
          <a:prstGeom prst="hexagon">
            <a:avLst/>
          </a:prstGeom>
          <a:solidFill>
            <a:srgbClr val="DA3726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28800" y="1645920"/>
            <a:ext cx="4023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DA3726"/>
                </a:solidFill>
              </a:defRPr>
            </a:pPr>
            <a:r>
              <a:t>Analisis Kebutuhan &amp; Redesain Service Desk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Mengkaji kendala penanganan tiket Helpdesk sebelumnya &amp; merancang alur Melati V2.</a:t>
            </a:r>
          </a:p>
        </p:txBody>
      </p:sp>
      <p:sp>
        <p:nvSpPr>
          <p:cNvPr id="6" name="Hexagon 5"/>
          <p:cNvSpPr/>
          <p:nvPr/>
        </p:nvSpPr>
        <p:spPr>
          <a:xfrm>
            <a:off x="6339535" y="1645920"/>
            <a:ext cx="1005840" cy="1097280"/>
          </a:xfrm>
          <a:prstGeom prst="hexagon">
            <a:avLst/>
          </a:prstGeom>
          <a:solidFill>
            <a:srgbClr val="DA3726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36815" y="1645920"/>
            <a:ext cx="4023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DA3726"/>
                </a:solidFill>
              </a:defRPr>
            </a:pPr>
            <a:r>
              <a:t>Pengembangan Backend &amp; API Laravel 12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Membangun struktur database SQLite, controller, middleware, dan REST API.</a:t>
            </a:r>
          </a:p>
        </p:txBody>
      </p:sp>
      <p:sp>
        <p:nvSpPr>
          <p:cNvPr id="8" name="Hexagon 7"/>
          <p:cNvSpPr/>
          <p:nvPr/>
        </p:nvSpPr>
        <p:spPr>
          <a:xfrm>
            <a:off x="731520" y="3200400"/>
            <a:ext cx="1005840" cy="1097280"/>
          </a:xfrm>
          <a:prstGeom prst="hexagon">
            <a:avLst/>
          </a:prstGeom>
          <a:solidFill>
            <a:srgbClr val="DA3726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828800" y="3200400"/>
            <a:ext cx="4023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DA3726"/>
                </a:solidFill>
              </a:defRPr>
            </a:pPr>
            <a:r>
              <a:t>Integrasi Gemini AI Virtual Assistant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Mengembangkan AI chatbot diagnosis masalah, analisis screenshot, &amp; autofill tiket.</a:t>
            </a:r>
          </a:p>
        </p:txBody>
      </p:sp>
      <p:sp>
        <p:nvSpPr>
          <p:cNvPr id="10" name="Hexagon 9"/>
          <p:cNvSpPr/>
          <p:nvPr/>
        </p:nvSpPr>
        <p:spPr>
          <a:xfrm>
            <a:off x="6339535" y="3200400"/>
            <a:ext cx="1005840" cy="1097280"/>
          </a:xfrm>
          <a:prstGeom prst="hexagon">
            <a:avLst/>
          </a:prstGeom>
          <a:solidFill>
            <a:srgbClr val="DA3726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36815" y="3200400"/>
            <a:ext cx="4023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DA3726"/>
                </a:solidFill>
              </a:defRPr>
            </a:pPr>
            <a:r>
              <a:rPr dirty="0">
                <a:highlight>
                  <a:srgbClr val="FFFF00"/>
                </a:highlight>
              </a:rPr>
              <a:t>Logic Routing &amp; Overdue Escalation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rPr dirty="0" err="1">
                <a:highlight>
                  <a:srgbClr val="FFFF00"/>
                </a:highlight>
              </a:rPr>
              <a:t>Membuat</a:t>
            </a:r>
            <a:r>
              <a:rPr dirty="0">
                <a:highlight>
                  <a:srgbClr val="FFFF00"/>
                </a:highlight>
              </a:rPr>
              <a:t> Location-Based Routing (Pusat vs </a:t>
            </a:r>
            <a:r>
              <a:rPr dirty="0" err="1">
                <a:highlight>
                  <a:srgbClr val="FFFF00"/>
                </a:highlight>
              </a:rPr>
              <a:t>Perwakilan</a:t>
            </a:r>
            <a:r>
              <a:rPr dirty="0">
                <a:highlight>
                  <a:srgbClr val="FFFF00"/>
                </a:highlight>
              </a:rPr>
              <a:t>) &amp; command overdue 24 jam.</a:t>
            </a:r>
          </a:p>
        </p:txBody>
      </p:sp>
      <p:sp>
        <p:nvSpPr>
          <p:cNvPr id="12" name="Hexagon 11"/>
          <p:cNvSpPr/>
          <p:nvPr/>
        </p:nvSpPr>
        <p:spPr>
          <a:xfrm>
            <a:off x="731520" y="4754880"/>
            <a:ext cx="1005840" cy="1097280"/>
          </a:xfrm>
          <a:prstGeom prst="hexagon">
            <a:avLst/>
          </a:prstGeom>
          <a:solidFill>
            <a:srgbClr val="DA3726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828800" y="4754880"/>
            <a:ext cx="4023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DA3726"/>
                </a:solidFill>
              </a:defRPr>
            </a:pPr>
            <a:r>
              <a:t>Interface UI/UX Responsif &amp; Interaktif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Merancang antarmuka Alpine.js &amp; Tailwind CSS dengan notifikasi bell &amp; limit solver.</a:t>
            </a:r>
          </a:p>
        </p:txBody>
      </p:sp>
      <p:sp>
        <p:nvSpPr>
          <p:cNvPr id="14" name="Hexagon 13"/>
          <p:cNvSpPr/>
          <p:nvPr/>
        </p:nvSpPr>
        <p:spPr>
          <a:xfrm>
            <a:off x="6339535" y="4754880"/>
            <a:ext cx="1005840" cy="1097280"/>
          </a:xfrm>
          <a:prstGeom prst="hexagon">
            <a:avLst/>
          </a:prstGeom>
          <a:solidFill>
            <a:srgbClr val="DA3726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36815" y="4754880"/>
            <a:ext cx="4023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DA3726"/>
                </a:solidFill>
              </a:defRPr>
            </a:pPr>
            <a:r>
              <a:t>Testing, FAQ Synthesis &amp; Dokumentasi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Menguji alur tiket (TicketFlowsTest), sintesis FAQ otomatis, &amp; membuat README.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52190" y="365760"/>
            <a:ext cx="54864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DA3726"/>
                </a:solidFill>
                <a:latin typeface="Arial"/>
              </a:defRPr>
            </a:pPr>
            <a:r>
              <a:t>KESAN DAN PESAN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DA3726"/>
                </a:solidFill>
              </a:defRPr>
            </a:pPr>
            <a:r>
              <a:t>Apakah pelaksanaan magang di Kantor Pusat BPK sudah sesuai dengan harapan Anda? Jelaskan.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728655" cy="3931920"/>
          </a:xfrm>
          <a:prstGeom prst="roundRect">
            <a:avLst/>
          </a:prstGeom>
          <a:solidFill>
            <a:srgbClr val="FEF9E7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DA3726"/>
                </a:solidFill>
              </a:defRPr>
            </a:pPr>
            <a:r>
              <a:rPr dirty="0"/>
              <a:t>🌟 YA, PELAKSANAAN MAGANG DI KANTOR PUSAT BPK SANGAT SESUAI DAN MELEBIHI HARAPAN!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rPr dirty="0" err="1"/>
              <a:t>Selama</a:t>
            </a:r>
            <a:r>
              <a:rPr dirty="0"/>
              <a:t> </a:t>
            </a:r>
            <a:r>
              <a:rPr dirty="0" err="1"/>
              <a:t>magang</a:t>
            </a:r>
            <a:r>
              <a:rPr dirty="0"/>
              <a:t> di Biro TIK BPK RI, </a:t>
            </a:r>
            <a:r>
              <a:rPr dirty="0" err="1"/>
              <a:t>saya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hanya</a:t>
            </a:r>
            <a:r>
              <a:rPr dirty="0"/>
              <a:t> </a:t>
            </a:r>
            <a:r>
              <a:rPr dirty="0" err="1"/>
              <a:t>diberikan</a:t>
            </a:r>
            <a:r>
              <a:rPr dirty="0"/>
              <a:t> </a:t>
            </a:r>
            <a:r>
              <a:rPr dirty="0" err="1"/>
              <a:t>ruang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belajar</a:t>
            </a:r>
            <a:r>
              <a:rPr dirty="0"/>
              <a:t> </a:t>
            </a:r>
            <a:r>
              <a:rPr dirty="0" err="1"/>
              <a:t>tetapi</a:t>
            </a:r>
            <a:r>
              <a:rPr dirty="0"/>
              <a:t> juga </a:t>
            </a:r>
            <a:r>
              <a:rPr dirty="0" err="1"/>
              <a:t>dipercaya</a:t>
            </a:r>
            <a:r>
              <a:rPr dirty="0"/>
              <a:t> </a:t>
            </a:r>
            <a:r>
              <a:rPr dirty="0" err="1"/>
              <a:t>penuh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merancang</a:t>
            </a:r>
            <a:r>
              <a:rPr dirty="0"/>
              <a:t> dan </a:t>
            </a:r>
            <a:r>
              <a:rPr dirty="0" err="1"/>
              <a:t>mengeksecusi</a:t>
            </a:r>
            <a:r>
              <a:rPr dirty="0"/>
              <a:t> </a:t>
            </a:r>
            <a:r>
              <a:rPr dirty="0" err="1"/>
              <a:t>proyek</a:t>
            </a:r>
            <a:r>
              <a:rPr dirty="0"/>
              <a:t> </a:t>
            </a:r>
            <a:r>
              <a:rPr dirty="0" err="1"/>
              <a:t>inovasi</a:t>
            </a:r>
            <a:r>
              <a:rPr dirty="0"/>
              <a:t> Portal Melati V2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mandiri</a:t>
            </a:r>
            <a:r>
              <a:rPr dirty="0"/>
              <a:t> dan </a:t>
            </a:r>
            <a:r>
              <a:rPr dirty="0" err="1"/>
              <a:t>terarah</a:t>
            </a:r>
            <a:r>
              <a:rPr dirty="0"/>
              <a:t>.</a:t>
            </a:r>
          </a:p>
          <a:p>
            <a:br>
              <a:rPr dirty="0">
                <a:solidFill>
                  <a:schemeClr val="tx1"/>
                </a:solidFill>
                <a:highlight>
                  <a:srgbClr val="FFFF00"/>
                </a:highlight>
              </a:rPr>
            </a:br>
            <a:r>
              <a:rPr dirty="0">
                <a:solidFill>
                  <a:schemeClr val="tx1"/>
                </a:solidFill>
                <a:highlight>
                  <a:srgbClr val="FFFF00"/>
                </a:highlight>
              </a:rPr>
              <a:t>• KESAN: Sangat </a:t>
            </a:r>
            <a:r>
              <a:rPr dirty="0" err="1">
                <a:solidFill>
                  <a:schemeClr val="tx1"/>
                </a:solidFill>
                <a:highlight>
                  <a:srgbClr val="FFFF00"/>
                </a:highlight>
              </a:rPr>
              <a:t>bangga</a:t>
            </a:r>
            <a:r>
              <a:rPr dirty="0">
                <a:solidFill>
                  <a:schemeClr val="tx1"/>
                </a:solidFill>
                <a:highlight>
                  <a:srgbClr val="FFFF00"/>
                </a:highlight>
              </a:rPr>
              <a:t> dan </a:t>
            </a:r>
            <a:r>
              <a:rPr dirty="0" err="1">
                <a:solidFill>
                  <a:schemeClr val="tx1"/>
                </a:solidFill>
                <a:highlight>
                  <a:srgbClr val="FFFF00"/>
                </a:highlight>
              </a:rPr>
              <a:t>bersyukur</a:t>
            </a:r>
            <a:r>
              <a:rPr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dirty="0" err="1">
                <a:solidFill>
                  <a:schemeClr val="tx1"/>
                </a:solidFill>
                <a:highlight>
                  <a:srgbClr val="FFFF00"/>
                </a:highlight>
              </a:rPr>
              <a:t>atas</a:t>
            </a:r>
            <a:r>
              <a:rPr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dirty="0" err="1">
                <a:solidFill>
                  <a:schemeClr val="tx1"/>
                </a:solidFill>
                <a:highlight>
                  <a:srgbClr val="FFFF00"/>
                </a:highlight>
              </a:rPr>
              <a:t>bimbingan</a:t>
            </a:r>
            <a:r>
              <a:rPr dirty="0">
                <a:solidFill>
                  <a:schemeClr val="tx1"/>
                </a:solidFill>
                <a:highlight>
                  <a:srgbClr val="FFFF00"/>
                </a:highlight>
              </a:rPr>
              <a:t> para mentor, </a:t>
            </a:r>
            <a:r>
              <a:rPr dirty="0" err="1">
                <a:solidFill>
                  <a:schemeClr val="tx1"/>
                </a:solidFill>
                <a:highlight>
                  <a:srgbClr val="FFFF00"/>
                </a:highlight>
              </a:rPr>
              <a:t>Kasubbag</a:t>
            </a:r>
            <a:r>
              <a:rPr dirty="0">
                <a:solidFill>
                  <a:schemeClr val="tx1"/>
                </a:solidFill>
                <a:highlight>
                  <a:srgbClr val="FFFF00"/>
                </a:highlight>
              </a:rPr>
              <a:t>, dan </a:t>
            </a:r>
            <a:r>
              <a:rPr dirty="0" err="1">
                <a:solidFill>
                  <a:schemeClr val="tx1"/>
                </a:solidFill>
                <a:highlight>
                  <a:srgbClr val="FFFF00"/>
                </a:highlight>
              </a:rPr>
              <a:t>rekan-rekan</a:t>
            </a:r>
            <a:r>
              <a:rPr dirty="0">
                <a:solidFill>
                  <a:schemeClr val="tx1"/>
                </a:solidFill>
                <a:highlight>
                  <a:srgbClr val="FFFF00"/>
                </a:highlight>
              </a:rPr>
              <a:t> Biro TIK yang </a:t>
            </a:r>
            <a:r>
              <a:rPr dirty="0" err="1">
                <a:solidFill>
                  <a:schemeClr val="tx1"/>
                </a:solidFill>
                <a:highlight>
                  <a:srgbClr val="FFFF00"/>
                </a:highlight>
              </a:rPr>
              <a:t>inklusif</a:t>
            </a:r>
            <a:r>
              <a:rPr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dirty="0" err="1">
                <a:solidFill>
                  <a:schemeClr val="tx1"/>
                </a:solidFill>
                <a:highlight>
                  <a:srgbClr val="FFFF00"/>
                </a:highlight>
              </a:rPr>
              <a:t>serta</a:t>
            </a:r>
            <a:r>
              <a:rPr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dirty="0" err="1">
                <a:solidFill>
                  <a:schemeClr val="tx1"/>
                </a:solidFill>
                <a:highlight>
                  <a:srgbClr val="FFFF00"/>
                </a:highlight>
              </a:rPr>
              <a:t>profesional</a:t>
            </a:r>
            <a:r>
              <a:rPr dirty="0">
                <a:solidFill>
                  <a:schemeClr val="tx1"/>
                </a:solidFill>
                <a:highlight>
                  <a:srgbClr val="FFFF00"/>
                </a:highlight>
              </a:rPr>
              <a:t>, </a:t>
            </a:r>
            <a:r>
              <a:rPr dirty="0" err="1">
                <a:solidFill>
                  <a:schemeClr val="tx1"/>
                </a:solidFill>
                <a:highlight>
                  <a:srgbClr val="FFFF00"/>
                </a:highlight>
              </a:rPr>
              <a:t>memberi</a:t>
            </a:r>
            <a:r>
              <a:rPr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dirty="0" err="1">
                <a:solidFill>
                  <a:schemeClr val="tx1"/>
                </a:solidFill>
                <a:highlight>
                  <a:srgbClr val="FFFF00"/>
                </a:highlight>
              </a:rPr>
              <a:t>wawasan</a:t>
            </a:r>
            <a:r>
              <a:rPr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dirty="0" err="1">
                <a:solidFill>
                  <a:schemeClr val="tx1"/>
                </a:solidFill>
                <a:highlight>
                  <a:srgbClr val="FFFF00"/>
                </a:highlight>
              </a:rPr>
              <a:t>luas</a:t>
            </a:r>
            <a:r>
              <a:rPr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dirty="0" err="1">
                <a:solidFill>
                  <a:schemeClr val="tx1"/>
                </a:solidFill>
                <a:highlight>
                  <a:srgbClr val="FFFF00"/>
                </a:highlight>
              </a:rPr>
              <a:t>tentang</a:t>
            </a:r>
            <a:r>
              <a:rPr dirty="0">
                <a:solidFill>
                  <a:schemeClr val="tx1"/>
                </a:solidFill>
                <a:highlight>
                  <a:srgbClr val="FFFF00"/>
                </a:highlight>
              </a:rPr>
              <a:t> tata </a:t>
            </a:r>
            <a:r>
              <a:rPr dirty="0" err="1">
                <a:solidFill>
                  <a:schemeClr val="tx1"/>
                </a:solidFill>
                <a:highlight>
                  <a:srgbClr val="FFFF00"/>
                </a:highlight>
              </a:rPr>
              <a:t>kelola</a:t>
            </a:r>
            <a:r>
              <a:rPr dirty="0">
                <a:solidFill>
                  <a:schemeClr val="tx1"/>
                </a:solidFill>
                <a:highlight>
                  <a:srgbClr val="FFFF00"/>
                </a:highlight>
              </a:rPr>
              <a:t> TI </a:t>
            </a:r>
            <a:r>
              <a:rPr dirty="0" err="1">
                <a:solidFill>
                  <a:schemeClr val="tx1"/>
                </a:solidFill>
                <a:highlight>
                  <a:srgbClr val="FFFF00"/>
                </a:highlight>
              </a:rPr>
              <a:t>instansi</a:t>
            </a:r>
            <a:r>
              <a:rPr dirty="0">
                <a:solidFill>
                  <a:schemeClr val="tx1"/>
                </a:solidFill>
                <a:highlight>
                  <a:srgbClr val="FFFF00"/>
                </a:highlight>
              </a:rPr>
              <a:t> negara.</a:t>
            </a:r>
          </a:p>
          <a:p>
            <a:pPr>
              <a:defRPr sz="1300" b="1">
                <a:solidFill>
                  <a:srgbClr val="282828"/>
                </a:solidFill>
              </a:defRPr>
            </a:pPr>
            <a:r>
              <a:rPr dirty="0"/>
              <a:t>• PESAN: </a:t>
            </a:r>
            <a:r>
              <a:rPr dirty="0" err="1"/>
              <a:t>Semoga</a:t>
            </a:r>
            <a:r>
              <a:rPr dirty="0"/>
              <a:t> Portal Melati V2 </a:t>
            </a:r>
            <a:r>
              <a:rPr dirty="0" err="1"/>
              <a:t>terus</a:t>
            </a:r>
            <a:r>
              <a:rPr dirty="0"/>
              <a:t> </a:t>
            </a:r>
            <a:r>
              <a:rPr dirty="0" err="1"/>
              <a:t>dikembangkan</a:t>
            </a:r>
            <a:r>
              <a:rPr dirty="0"/>
              <a:t> dan </a:t>
            </a:r>
            <a:r>
              <a:rPr dirty="0" err="1"/>
              <a:t>memberikan</a:t>
            </a:r>
            <a:r>
              <a:rPr dirty="0"/>
              <a:t> </a:t>
            </a:r>
            <a:r>
              <a:rPr dirty="0" err="1"/>
              <a:t>manfaat</a:t>
            </a:r>
            <a:r>
              <a:rPr dirty="0"/>
              <a:t> </a:t>
            </a:r>
            <a:r>
              <a:rPr dirty="0" err="1"/>
              <a:t>jangka</a:t>
            </a:r>
            <a:r>
              <a:rPr dirty="0"/>
              <a:t> </a:t>
            </a:r>
            <a:r>
              <a:rPr dirty="0" err="1"/>
              <a:t>panjang</a:t>
            </a:r>
            <a:r>
              <a:rPr dirty="0"/>
              <a:t> </a:t>
            </a:r>
            <a:r>
              <a:rPr dirty="0" err="1"/>
              <a:t>bagi</a:t>
            </a:r>
            <a:r>
              <a:rPr dirty="0"/>
              <a:t> </a:t>
            </a:r>
            <a:r>
              <a:rPr dirty="0" err="1"/>
              <a:t>pelayanan</a:t>
            </a:r>
            <a:r>
              <a:rPr dirty="0"/>
              <a:t> BPK RI, </a:t>
            </a:r>
            <a:r>
              <a:rPr dirty="0" err="1"/>
              <a:t>serta</a:t>
            </a:r>
            <a:r>
              <a:rPr dirty="0"/>
              <a:t> program </a:t>
            </a:r>
            <a:r>
              <a:rPr dirty="0" err="1"/>
              <a:t>magang</a:t>
            </a:r>
            <a:r>
              <a:rPr dirty="0"/>
              <a:t> Biro TIK </a:t>
            </a:r>
            <a:r>
              <a:rPr dirty="0" err="1"/>
              <a:t>terus</a:t>
            </a:r>
            <a:r>
              <a:rPr dirty="0"/>
              <a:t> </a:t>
            </a:r>
            <a:r>
              <a:rPr dirty="0" err="1"/>
              <a:t>mencetak</a:t>
            </a:r>
            <a:r>
              <a:rPr dirty="0"/>
              <a:t> </a:t>
            </a:r>
            <a:r>
              <a:rPr dirty="0" err="1"/>
              <a:t>talenta</a:t>
            </a:r>
            <a:r>
              <a:rPr dirty="0"/>
              <a:t> digital </a:t>
            </a:r>
            <a:r>
              <a:rPr dirty="0" err="1"/>
              <a:t>berkualitas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52190" y="365760"/>
            <a:ext cx="54864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DA3726"/>
                </a:solidFill>
                <a:latin typeface="Arial"/>
              </a:defRPr>
            </a:pPr>
            <a:r>
              <a:t>PROYEK INOVASI UNTUK BPK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DA3726"/>
                </a:solidFill>
              </a:defRPr>
            </a:pPr>
            <a:r>
              <a:t>🌸 MELATI V2 — Portal Layanan &amp; Service Desk TI Terintegrasi Berbasis AI</a:t>
            </a:r>
          </a:p>
          <a:p>
            <a:pPr>
              <a:defRPr sz="1300" b="1">
                <a:solidFill>
                  <a:srgbClr val="282828"/>
                </a:solidFill>
              </a:defRPr>
            </a:pPr>
            <a:r>
              <a:t>Inovasi ini dikembangkan untuk memodernisasi Helpdesk Biro TIK BPK RI dengan 5 keunggulan utama: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• 🤖 Asisten Virtual AI Multimodal (Gemini 3.5 Flash): Diagnosis mandiri, verifikasi foto hardware, &amp; autofill tiket terstruktur.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• 📍 Location-Based Smart Routing: Otomatis mengarahkan tiket ke Pusat (k2) atau Perwakilan (plti) sesuai parameter lokasi &amp; remote.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• ⏰ Automated Overdue Escalation (SLA 24 Jam): Command otomatis memantau tiket Pending &gt; 24 jam &amp; mengirim notifikasi darurat.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• ⚡ Multi-Solver Busy Limit &amp; Reopen Alert: Pembatasan maks 6 tiket aktif solver &amp; notifikasi instan saat tiket di-reopen.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• 📊 Gemini Auto-FAQ &amp; Dataset Export: Sintesis FAQ otomatis dari 10 tiket serupa &amp; ekspor dataset JSONL untuk AI BPK RI.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437790" y="1828800"/>
            <a:ext cx="731520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DA3726"/>
                </a:solidFill>
              </a:defRPr>
            </a:pPr>
            <a:r>
              <a:t>TERIMA KASIH</a:t>
            </a:r>
          </a:p>
          <a:p>
            <a:br/>
            <a:r>
              <a:t>Biro Teknologi Informasi (Biro TIK)</a:t>
            </a:r>
            <a:br/>
            <a:r>
              <a:t>Badan Pemeriksa Keuangan Republik Indonesia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775</Words>
  <Application>Microsoft Office PowerPoint</Application>
  <PresentationFormat>Widescreen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Hamka Muhammad</cp:lastModifiedBy>
  <cp:revision>2</cp:revision>
  <dcterms:created xsi:type="dcterms:W3CDTF">2013-01-27T09:14:16Z</dcterms:created>
  <dcterms:modified xsi:type="dcterms:W3CDTF">2026-08-13T03:27:34Z</dcterms:modified>
  <cp:category/>
</cp:coreProperties>
</file>